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4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3CC3-5EF3-CC8E-BD67-66ADDAF41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B4C46-BB63-5F2D-50F5-79EB55E12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AF3A4-EA31-0F70-2F67-3848392A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40E3-DF7A-BED4-659D-EC1B806A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F35AF-C5F7-CBDA-3F3D-7BEF2187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49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B60D8-A768-9A4F-6F13-5904D9F2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8C514-89A2-C891-2A11-DAA795ED2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BEE50-D19E-103D-11E9-06099868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0D368-0302-7ED4-67B6-D4AD945F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27ADF-A16C-A32E-DA46-0CED6E7D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39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515F-9A47-D250-0FB3-4D781C92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DEC0D-926E-DDB4-EA4F-10D234B52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4F039-595E-6214-E6AC-6308BCC0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B5FC1-2532-E48A-9FC8-FE494833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A9996-D27A-D904-331B-0BCE564B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37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026E-1CFF-393D-5811-68E9C36F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6D41-BBA5-C7CF-BE57-40D692031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BAF66-5C1D-B0F3-352E-097900692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6D260-F765-E0FA-104B-4E170F56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8E855-5EC9-418F-A138-A13B5C13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042FF-373F-7C5F-F660-D79FF052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18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7D1EC-86D1-E499-B5A6-4ADD1314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881DA-C3D6-6D0B-3CCA-E145DB9AA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6D1B7-2EBD-1E06-245E-722EB352E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D183E-A837-D06D-48F1-E694052EB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1C29F-2767-E0E2-8880-85786FBCE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C2B91B-D41B-7483-5BAA-C79C332A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7D7DE-E5CB-6CEC-112E-A273F051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B11E0B-94DE-4BBA-145C-DE9848E3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10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1205F-1ECF-94AC-4606-6A7001A7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AE59F-B21B-0A92-FA35-03126EC1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32028-4C59-4946-3B5F-B169BBFA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8B420-9E60-F71D-22EA-EBC65B83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73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EC8B7-67CF-00E5-3205-6D6B48F8C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27204-1EF7-AAB0-398D-06DC7C8A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80D19-9810-F137-E6EA-BEF89B7B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61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AC89-EE1E-3F77-68E7-EF01A77C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04437-690D-B126-9FD5-FE475B62F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F389F-4655-81F4-84F5-554839F92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40358-FCEF-3C24-84F4-2757A88E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C99F0-D680-727A-4D00-FCAFDA4A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751F5-76EF-4E07-5125-EA8BFDF1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95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5E19-4532-E29F-46E9-286EA26E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C33C65-AE2B-C8FC-8334-421C086D6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F82C2-B9F8-8030-B490-F7573805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00A18-A99C-521E-BDC6-BAB67CFC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2997C-2228-8E7C-37B7-85520757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D55A0-39C4-BF1B-821F-9BE3FCA4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00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209C-0D12-9AD9-0D8A-BBF28BE5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118CF-AAC1-7C6A-AFE6-CD53B7ADF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E2AF-0E01-0EB3-D2A6-96DBB766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E4F19-D020-95EC-C8C1-279B0ACF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C4A61-1835-7DDE-6F2B-97151B61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35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A3926-5616-FAE2-A089-B4C896303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B9A1C-E34D-B2FF-8882-D9EB50804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3D1D-1C14-D324-AB11-ACED92B9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530E0-0FF1-C457-CF59-37A646CB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96E9C-68C9-86DF-EB10-2DE1B9A6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81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1994C-9ECD-8244-4B64-40BDFD0F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B41FB-CC84-771E-EC63-160E4721E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BA565-F88E-D64B-9B45-6D3F53FE0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DC0F8-20C7-4CB1-824D-D8FFD4835B64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2949-2C2B-F56B-6684-CF40425C6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31EE-F2AC-F3E1-E794-368E9B616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B6E30-974B-4341-8D44-436B2AA49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17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E86E-50BC-0EC1-0856-CEB8EB08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473" y="240434"/>
            <a:ext cx="4731327" cy="1325563"/>
          </a:xfrm>
        </p:spPr>
        <p:txBody>
          <a:bodyPr/>
          <a:lstStyle/>
          <a:p>
            <a:r>
              <a:rPr lang="en-GB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0C216-1FF1-BC12-72FC-7D921B705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491" y="1565997"/>
            <a:ext cx="510078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Calendar features</a:t>
            </a:r>
          </a:p>
          <a:p>
            <a:pPr lvl="1"/>
            <a:r>
              <a:rPr lang="en-GB" dirty="0"/>
              <a:t>Day of week</a:t>
            </a:r>
          </a:p>
          <a:p>
            <a:pPr lvl="1"/>
            <a:r>
              <a:rPr lang="en-GB" dirty="0"/>
              <a:t>Month</a:t>
            </a:r>
          </a:p>
          <a:p>
            <a:pPr lvl="1"/>
            <a:r>
              <a:rPr lang="en-GB" dirty="0"/>
              <a:t>Morning / Afternoon</a:t>
            </a:r>
          </a:p>
          <a:p>
            <a:pPr lvl="1"/>
            <a:r>
              <a:rPr lang="en-GB" dirty="0"/>
              <a:t>Hour (cosine transformed)</a:t>
            </a:r>
          </a:p>
          <a:p>
            <a:r>
              <a:rPr lang="en-GB" dirty="0"/>
              <a:t>Appointment / patient metadata</a:t>
            </a:r>
          </a:p>
          <a:p>
            <a:pPr lvl="1"/>
            <a:r>
              <a:rPr lang="en-GB" dirty="0"/>
              <a:t>Lead time (log transformed)</a:t>
            </a:r>
          </a:p>
          <a:p>
            <a:pPr lvl="1"/>
            <a:r>
              <a:rPr lang="en-GB" dirty="0"/>
              <a:t>30-day threshold (long-lead time)</a:t>
            </a:r>
          </a:p>
          <a:p>
            <a:pPr lvl="1"/>
            <a:r>
              <a:rPr lang="en-GB" dirty="0"/>
              <a:t>DNA history, binary and count of DNA last 12-months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1755F2-165F-E051-AB01-6D50BF14C112}"/>
              </a:ext>
            </a:extLst>
          </p:cNvPr>
          <p:cNvSpPr txBox="1">
            <a:spLocks/>
          </p:cNvSpPr>
          <p:nvPr/>
        </p:nvSpPr>
        <p:spPr>
          <a:xfrm>
            <a:off x="6246091" y="240433"/>
            <a:ext cx="47313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Pre-processing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71C02D-6D82-40A6-4963-07E5068B224D}"/>
              </a:ext>
            </a:extLst>
          </p:cNvPr>
          <p:cNvSpPr txBox="1">
            <a:spLocks/>
          </p:cNvSpPr>
          <p:nvPr/>
        </p:nvSpPr>
        <p:spPr>
          <a:xfrm>
            <a:off x="6280727" y="1565997"/>
            <a:ext cx="51007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Mixed-Effect Target Encoding</a:t>
            </a:r>
          </a:p>
          <a:p>
            <a:pPr lvl="1"/>
            <a:r>
              <a:rPr lang="en-GB" dirty="0"/>
              <a:t>High-cardinality variables are encoded with numerical scores derived from historical DNA rate</a:t>
            </a:r>
          </a:p>
          <a:p>
            <a:r>
              <a:rPr lang="en-GB" sz="2400" dirty="0"/>
              <a:t>Novel level handling</a:t>
            </a:r>
          </a:p>
          <a:p>
            <a:r>
              <a:rPr lang="en-GB" sz="2400" dirty="0"/>
              <a:t>Factor collapsing</a:t>
            </a:r>
          </a:p>
          <a:p>
            <a:r>
              <a:rPr lang="en-GB" sz="2400" dirty="0"/>
              <a:t>Imputation</a:t>
            </a:r>
          </a:p>
          <a:p>
            <a:r>
              <a:rPr lang="en-GB" sz="2400" dirty="0"/>
              <a:t>Variance filter</a:t>
            </a:r>
          </a:p>
          <a:p>
            <a:r>
              <a:rPr lang="en-GB" sz="2400" dirty="0"/>
              <a:t>Down-sampling</a:t>
            </a:r>
          </a:p>
          <a:p>
            <a:pPr lvl="1"/>
            <a:r>
              <a:rPr lang="en-GB" dirty="0"/>
              <a:t>Addresses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409724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E86E-50BC-0EC1-0856-CEB8EB08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473" y="240434"/>
            <a:ext cx="4731327" cy="1325563"/>
          </a:xfrm>
        </p:spPr>
        <p:txBody>
          <a:bodyPr/>
          <a:lstStyle/>
          <a:p>
            <a:r>
              <a:rPr lang="en-GB" dirty="0"/>
              <a:t>Tuning and training</a:t>
            </a:r>
          </a:p>
        </p:txBody>
      </p:sp>
      <p:pic>
        <p:nvPicPr>
          <p:cNvPr id="3074" name="Picture 2" descr="How-To: Cross Validation with Time Series Data | Towards Data Science">
            <a:extLst>
              <a:ext uri="{FF2B5EF4-FFF2-40B4-BE49-F238E27FC236}">
                <a16:creationId xmlns:a16="http://schemas.microsoft.com/office/drawing/2014/main" id="{CF6902E8-964A-785F-FB58-36AC941C0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09" y="1692854"/>
            <a:ext cx="10099011" cy="438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61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E86E-50BC-0EC1-0856-CEB8EB08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473" y="240434"/>
            <a:ext cx="4731327" cy="1325563"/>
          </a:xfrm>
        </p:spPr>
        <p:txBody>
          <a:bodyPr/>
          <a:lstStyle/>
          <a:p>
            <a:r>
              <a:rPr lang="en-GB" dirty="0"/>
              <a:t>Risk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34166-CD6E-48B7-9AC7-CC02AD565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426" y="1334655"/>
            <a:ext cx="6898640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7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8EA868-E59A-E6CB-4EF4-CACEA9C7A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57" y="1137722"/>
            <a:ext cx="4601561" cy="5258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EA8277-EC5E-6A64-1E49-6919A6AC9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454" y="1137722"/>
            <a:ext cx="4583089" cy="52378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29B09D7-5C8C-4E9E-9489-343EF0DC107C}"/>
              </a:ext>
            </a:extLst>
          </p:cNvPr>
          <p:cNvSpPr txBox="1">
            <a:spLocks/>
          </p:cNvSpPr>
          <p:nvPr/>
        </p:nvSpPr>
        <p:spPr>
          <a:xfrm>
            <a:off x="113147" y="-221383"/>
            <a:ext cx="5068454" cy="1108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Modelling results</a:t>
            </a:r>
          </a:p>
        </p:txBody>
      </p:sp>
    </p:spTree>
    <p:extLst>
      <p:ext uri="{BB962C8B-B14F-4D97-AF65-F5344CB8AC3E}">
        <p14:creationId xmlns:p14="http://schemas.microsoft.com/office/powerpoint/2010/main" val="379116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725CB-F57C-82E6-C49E-5212B1B48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438" y="2131288"/>
            <a:ext cx="6411888" cy="45799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027110E-D517-B2B8-6E71-B548B0193758}"/>
              </a:ext>
            </a:extLst>
          </p:cNvPr>
          <p:cNvSpPr txBox="1">
            <a:spLocks/>
          </p:cNvSpPr>
          <p:nvPr/>
        </p:nvSpPr>
        <p:spPr>
          <a:xfrm>
            <a:off x="113147" y="-221383"/>
            <a:ext cx="5068454" cy="11080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Risk strata (example)</a:t>
            </a:r>
          </a:p>
        </p:txBody>
      </p:sp>
    </p:spTree>
    <p:extLst>
      <p:ext uri="{BB962C8B-B14F-4D97-AF65-F5344CB8AC3E}">
        <p14:creationId xmlns:p14="http://schemas.microsoft.com/office/powerpoint/2010/main" val="3599877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82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Feature Engineering</vt:lpstr>
      <vt:lpstr>Tuning and training</vt:lpstr>
      <vt:lpstr>Risk profile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HOWLETT, Nick (NHS BRISTOL, NORTH SOMERSET AND SOUTH GLOUCESTERSHIRE ICB - 15C)</dc:creator>
  <cp:lastModifiedBy>HOWLETT, Nick (NHS BRISTOL, NORTH SOMERSET AND SOUTH GLOUCESTERSHIRE ICB - 15C)</cp:lastModifiedBy>
  <cp:revision>1</cp:revision>
  <dcterms:created xsi:type="dcterms:W3CDTF">2026-05-06T08:41:12Z</dcterms:created>
  <dcterms:modified xsi:type="dcterms:W3CDTF">2026-05-06T15:33:22Z</dcterms:modified>
</cp:coreProperties>
</file>